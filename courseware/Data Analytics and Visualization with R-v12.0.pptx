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405" r:id="rId156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Records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Input</c:v>
                </c:pt>
                <c:pt idx="1">
                  <c:v>Retained</c:v>
                </c:pt>
                <c:pt idx="2">
                  <c:v>Excluded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530</c:v>
                </c:pt>
                <c:pt idx="1">
                  <c:v>486</c:v>
                </c:pt>
                <c:pt idx="2">
                  <c:v>44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No outlier</c:v>
                </c:pt>
                <c:pt idx="1">
                  <c:v>Moderate outlier</c:v>
                </c:pt>
                <c:pt idx="2">
                  <c:v>Large outlier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74</c:v>
                </c:pt>
                <c:pt idx="2">
                  <c:v>88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Median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No outlier</c:v>
                </c:pt>
                <c:pt idx="1">
                  <c:v>Moderate outlier</c:v>
                </c:pt>
                <c:pt idx="2">
                  <c:v>Large outlier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</c:v>
                </c:pt>
                <c:pt idx="1">
                  <c:v>71</c:v>
                </c:pt>
                <c:pt idx="2">
                  <c:v>71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Positive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1.2</c:v>
                </c:pt>
                <c:pt idx="1">
                  <c:v>2.1</c:v>
                </c:pt>
                <c:pt idx="2">
                  <c:v>2.8</c:v>
                </c:pt>
                <c:pt idx="3">
                  <c:v>4.2</c:v>
                </c:pt>
                <c:pt idx="4">
                  <c:v>5.1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Sheet1!$B$8</c:f>
              <c:strCache>
                <c:ptCount val="1"/>
                <c:pt idx="0">
                  <c:v>Negative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Sheet1!$A$9:$A$13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xVal>
          <c:yVal>
            <c:numRef>
              <c:f>Sheet1!$B$9:$B$13</c:f>
              <c:numCache>
                <c:formatCode>General</c:formatCode>
                <c:ptCount val="5"/>
                <c:pt idx="0">
                  <c:v>5.0</c:v>
                </c:pt>
                <c:pt idx="1">
                  <c:v>4.3</c:v>
                </c:pt>
                <c:pt idx="2">
                  <c:v>3.0</c:v>
                </c:pt>
                <c:pt idx="3">
                  <c:v>2.2</c:v>
                </c:pt>
                <c:pt idx="4">
                  <c:v>1.1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Standardised predictor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Standardised outcome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</c:v>
                </c:pt>
                <c:pt idx="1">
                  <c:v>31</c:v>
                </c:pt>
                <c:pt idx="2">
                  <c:v>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Within-group SD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</c:v>
                </c:pt>
                <c:pt idx="1">
                  <c:v>9</c:v>
                </c:pt>
                <c:pt idx="2">
                  <c:v>8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Raw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the</c:v>
                </c:pt>
                <c:pt idx="1">
                  <c:v>patient</c:v>
                </c:pt>
                <c:pt idx="2">
                  <c:v>screening</c:v>
                </c:pt>
                <c:pt idx="3">
                  <c:v>monitoring</c:v>
                </c:pt>
                <c:pt idx="4">
                  <c:v>urgent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44</c:v>
                </c:pt>
                <c:pt idx="1">
                  <c:v>18</c:v>
                </c:pt>
                <c:pt idx="2">
                  <c:v>12</c:v>
                </c:pt>
                <c:pt idx="3">
                  <c:v>10</c:v>
                </c:pt>
                <c:pt idx="4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Controlled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the</c:v>
                </c:pt>
                <c:pt idx="1">
                  <c:v>patient</c:v>
                </c:pt>
                <c:pt idx="2">
                  <c:v>screening</c:v>
                </c:pt>
                <c:pt idx="3">
                  <c:v>monitoring</c:v>
                </c:pt>
                <c:pt idx="4">
                  <c:v>urgent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14</c:v>
                </c:pt>
                <c:pt idx="2">
                  <c:v>12</c:v>
                </c:pt>
                <c:pt idx="3">
                  <c:v>10</c:v>
                </c:pt>
                <c:pt idx="4">
                  <c:v>8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55</c:v>
                </c:pt>
                <c:pt idx="2">
                  <c:v>51</c:v>
                </c:pt>
                <c:pt idx="3">
                  <c:v>68</c:v>
                </c:pt>
                <c:pt idx="4">
                  <c:v>75</c:v>
                </c:pt>
                <c:pt idx="5">
                  <c:v>64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82</c:v>
                </c:pt>
                <c:pt idx="1">
                  <c:v>76</c:v>
                </c:pt>
                <c:pt idx="2">
                  <c:v>91</c:v>
                </c:pt>
                <c:pt idx="3">
                  <c:v>70</c:v>
                </c:pt>
              </c:numCache>
            </c:numRef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Observed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8"/>
          </c:marker>
          <c:xVal>
            <c:numRef>
              <c:f>Sheet1!$A$2:$A$9</c:f>
              <c:numCache>
                <c:formatCode>General</c:formatCode>
                <c:ptCount val="8"/>
                <c:pt idx="0">
                  <c:v>4</c:v>
                </c:pt>
                <c:pt idx="1">
                  <c:v>8</c:v>
                </c:pt>
                <c:pt idx="2">
                  <c:v>13</c:v>
                </c:pt>
                <c:pt idx="3">
                  <c:v>17</c:v>
                </c:pt>
                <c:pt idx="4">
                  <c:v>21</c:v>
                </c:pt>
                <c:pt idx="5">
                  <c:v>26</c:v>
                </c:pt>
                <c:pt idx="6">
                  <c:v>31</c:v>
                </c:pt>
                <c:pt idx="7">
                  <c:v>37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61</c:v>
                </c:pt>
                <c:pt idx="1">
                  <c:v>63</c:v>
                </c:pt>
                <c:pt idx="2">
                  <c:v>64</c:v>
                </c:pt>
                <c:pt idx="3">
                  <c:v>68</c:v>
                </c:pt>
                <c:pt idx="4">
                  <c:v>69</c:v>
                </c:pt>
                <c:pt idx="5">
                  <c:v>71</c:v>
                </c:pt>
                <c:pt idx="6">
                  <c:v>74</c:v>
                </c:pt>
                <c:pt idx="7">
                  <c:v>76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Sheet1!$B$11</c:f>
              <c:strCache>
                <c:ptCount val="1"/>
                <c:pt idx="0">
                  <c:v>Fitted trend</c:v>
                </c:pt>
              </c:strCache>
            </c:strRef>
          </c:tx>
          <c:spPr>
            <a:ln w="28575">
              <a:solidFill>
                <a:srgbClr val="1F6FEB"/>
              </a:solidFill>
            </a:ln>
          </c:spPr>
          <c:marker>
            <c:symbol val="none"/>
          </c:marker>
          <c:xVal>
            <c:numRef>
              <c:f>Sheet1!$A$12:$A$13</c:f>
              <c:numCache>
                <c:formatCode>General</c:formatCode>
                <c:ptCount val="2"/>
                <c:pt idx="0">
                  <c:v>4</c:v>
                </c:pt>
                <c:pt idx="1">
                  <c:v>37</c:v>
                </c:pt>
              </c:numCache>
            </c:numRef>
          </c:xVal>
          <c:yVal>
            <c:numRef>
              <c:f>Sheet1!$B$12:$B$13</c:f>
              <c:numCache>
                <c:formatCode>General</c:formatCode>
                <c:ptCount val="2"/>
                <c:pt idx="0">
                  <c:v>60.9</c:v>
                </c:pt>
                <c:pt idx="1">
                  <c:v>76.1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Cancer-cell indicator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Weight (kg)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ertiarycourses/TGS-2026064475-Data-Analytics-and-Visualization-with-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ms-tms.tertiaryinfotech.com/" TargetMode="Externa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hero-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046" y="219456"/>
            <a:ext cx="11405648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219456"/>
            <a:ext cx="6565392" cy="64190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594360"/>
            <a:ext cx="841248" cy="8412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1828800"/>
            <a:ext cx="5349240" cy="3291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WSQ COURSE SLIDES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12848"/>
            <a:ext cx="5440680" cy="15087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 Analytics and Visualization with 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22191"/>
            <a:ext cx="22860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5440680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Course Code: TGS-2026064475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Analysis of Research Data · HCE-DAT-4008-1.1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Trainer: 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394960"/>
            <a:ext cx="5440680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Tertiary Infotech Academy Pte Ltd ·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70448"/>
            <a:ext cx="5440680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v12.0 · 20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09360"/>
            <a:ext cx="54406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Ltd. All rights reserved.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Welcome &amp; Course 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AM and PM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SSG digital attendance for every training 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Take the separate assessment attendance before the papers.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Scan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QR code shown by the trainer or administrator.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Maintain at least 75% attendance.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B6372"/>
                </a:solidFill>
                <a:latin typeface="Arial"/>
              </a:rPr>
              <a:t>GENERAL TRAINER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212848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12848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50791"/>
            <a:ext cx="2852928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2852928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before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2880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3288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TITLE / DESIGNATION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32888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36976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QUALIFICATIONS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941064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EXPERTISE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4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4645152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45152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34924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534924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Arial"/>
              </a:rPr>
              <a:t>________________________________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NAMED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83080"/>
            <a:ext cx="3310128" cy="432511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45920" y="2212848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212848"/>
            <a:ext cx="1554480" cy="155448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50791"/>
            <a:ext cx="2852928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17720"/>
            <a:ext cx="2852928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 · Tertiary Infotech Academy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8308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82880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ROLE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82880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Principal Trainer and Chief Instructional Designer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487168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253288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EXPERTISE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32888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R, statistics, data analytics, visualisation and 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191256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45152" y="3236976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CERTIFICATION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236976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ACLP-certified adult educator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895344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45152" y="3941064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F59E0B"/>
                </a:solidFill>
                <a:latin typeface="Arial"/>
              </a:rPr>
              <a:t>DELIVERS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941064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WSQ and professional technology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9120" y="4599432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2" y="4645152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EXPERIENCE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4645152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Research, industry analytics and workforce training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9120" y="5303520"/>
            <a:ext cx="7040880" cy="56692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5152" y="5349240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CONTACT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5349240"/>
            <a:ext cx="50749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enquiry@tertiaryinfotech.com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LEARNER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Role, organisation and research or decisions you support.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R baseline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Importing data, scripts, statistics or ggplot2.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data challenge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recurring preparation, analysis or communication problem.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you want to explain more reliably with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Be present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Return from breaks on time and complete attendance.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Participate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Ask, test and explain your reasoning.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Respect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One conversation; critique ideas, not people.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Protect data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only the supplied synthetic training datasets.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Save 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Retain source data, scripts, outputs and run logs.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Learn by doing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Run, inspect, challenge and interpret your own result.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9:00–10:20 · Data workflow and R setup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10:30–12:30 · Preparation and transformation</a:t>
            </a:r>
          </a:p>
        </p:txBody>
      </p:sp>
      <p:sp>
        <p:nvSpPr>
          <p:cNvPr id="16" name="Oval 15"/>
          <p:cNvSpPr/>
          <p:nvPr/>
        </p:nvSpPr>
        <p:spPr>
          <a:xfrm>
            <a:off x="1033272" y="4187952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1:30–3:20 · Descriptive statistics and summaries</a:t>
            </a:r>
          </a:p>
        </p:txBody>
      </p:sp>
      <p:sp>
        <p:nvSpPr>
          <p:cNvPr id="19" name="Oval 18"/>
          <p:cNvSpPr/>
          <p:nvPr/>
        </p:nvSpPr>
        <p:spPr>
          <a:xfrm>
            <a:off x="1033272" y="4974336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7048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3:30–6:00 · Correlation, regression and testing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9:00–10:30 · Qualitative text analysis</a:t>
            </a:r>
          </a:p>
        </p:txBody>
      </p:sp>
      <p:sp>
        <p:nvSpPr>
          <p:cNvPr id="28" name="Oval 27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10:40–12:30 · Word clouds and interpretation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187952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187952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86016" y="4133088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1:30–3:30 · Grammar of graphics and visual QA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4974336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4974336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86016" y="4919472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3:30–6:00 · Briefing, WA and PP assessment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WHAT YOU WILL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Prepare and transform data for analysis using 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Summarise data with descriptive statistics, figures, graphs and tables.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Perform quantitative data analysis and interpret the findings.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Perform qualitative data analysis and determine significance or effect.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effective data visualisations in R and interpret research findings.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ANALYSIS OF RESEARCH DATA · HCE-DAT-4008-1.1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K1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Strengths and limitations of different statistical techniques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K2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visualisation tools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A1–A9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Practical abilities span extraction, integration, modelling, reporting, pattern discovery and method selection.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BEFORE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Individual work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discussion or sharing during either paper.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the slides, Learner Guide and approved materials only.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Devices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phones and unrelated materials under the table.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Submit your own formulas, output and interpretation.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Integrity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photos, recording or verbatim copying.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Support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Re-assessment and appeal arrangements are available.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slow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and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Written Assessment (WA/SAQ)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 open-ended questions, 30 minutes, open book.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connected R-analysis tasks, 90 minutes, open book.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Outcome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Competent (C) or Not Yet Competent (NYC).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 minimum of 75% attendance and a Competent assessment outcome are required.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Option A · Clone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Git to clone the repository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numbered lab folder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Run the .R script from that folder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Option B · Download ZIP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GitHub &gt; Code &gt; Download ZIP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Extract the full folder 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 script, data and workbook together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 discipline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LG for detailed procedures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Preserve source data and control logs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Complete the Excel evidence workbook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https://github.com/tertiarycourses/TGS-2026064475-Data-Analytics-and-Visualization-with-R</a:t>
            </a:r>
          </a:p>
        </p:txBody>
      </p:sp>
    </p:spTree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the LMS/TMS portal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your learner account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Select this course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2 ·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Open Courseware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Download learner slides and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Save beside your lab folders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3 · 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the TGS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current version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Ask the trainer if a file differs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59E0B"/>
                </a:solidFill>
                <a:latin typeface="Arial"/>
              </a:rPr>
              <a:t>10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slow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 Preparation and Transformation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Research-data workflow · import/export · tidy structure · cleaning · joins · transformation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Data Preparation and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 before code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Define the decision, population, variables and unit of observation before transforming data.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Tidy structure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variable is a column, each observation is a row and each value occupies one cell.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Typed imports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Dates, factors, text and numbers need deliberate types so analysis behaves predictably.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Transformation pipeline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Select, filter, mutate, join, reshape and aggregate as visible reproducible stages.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Missingness is information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Distinguish structurally absent, unknown and invalid values before removal or imputation.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Reconciliation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Prove row counts, keys and material totals before and after every transformation.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Research data becomes evidence through a controlled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Frame: Define the research question, population, outcome and unit of observation.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Acquire: Record source, owner, period, consent and extraction conditions.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Prepare: Type, clean, transform and join without destroying source evidence.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Validate: Reconcile records and totals before analysis or visualisation.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 analysis packages form a coherent toolkit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Base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Import, inspect, reshape, model and plot with the core language.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tidyverse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 consistent grammar for import, manipulation and visualisation.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readxl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Reads Excel worksheets while preserving typed rectangular 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Tidy data makes transformations composable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Variable — Each measured attribute occupies one column.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Observation — Each unit or event occupies one 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Value — Each cell contains one atomic value.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Table — Each observational unit forms its own analytical 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Import is a data-contract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Delimiter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Confirm comma, tab or other field boundaries.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Header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stable unique names that survive refresh.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Type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Declare dates, identifiers, numbers and categories deliberately.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Locale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date order, decimal marks and character encoding.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CSV and Excel serve different purposes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CSV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Portable plain text with one table and no formulas or styles.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Excel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Multiple sheets, formulas and formatted control/evidence surfaces.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Spreadsheet display can hide underlying types or errors.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 an analysis-ready CSV beside the learner evidence workbook.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Select columns to define analytical 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Relevance: Keep variables required by the question and validation controls.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Privacy: Exclude identifiers or sensitive fields that are not necessary.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Order: Place keys, dimensions and measures in a reviewable sequence.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Lineage: Document fields removed or renamed and why.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Filter rows with explicit inclusion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Condition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Write the population rule before seeing the result.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Boolean logic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AND, OR and NOT with deliberate parentheses.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Missing values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NA comparisons require explicit is.na() handling.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Logical operators define the population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AND — Every condition must be true for a row to remain.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OR — At least one condition is sufficient.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NOT — Excludes a defined condition rather than an informal exception.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Audit — Test rules on known boundary records before full use.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Missingness is a pattern, not merely a nuisance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Unknown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value was not observed or recorded.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Not applicable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variable has no meaning for this observation.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Invalid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value fails type, range or relationship rules.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Exclude, impute or retain with a documented rationale.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Mutate creates derived analytical variables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Formula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Express the relationship in visible code, such as BMI = weight/height².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that source units make the result meaningful.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Boundary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Test zero, negative, missing and extreme inputs.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 the original columns beside the derived value.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Dates turn periods into ordered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Source: Year and week fields need a documented calendar convention.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Parse: Convert strings to true dates instead of plotting labels.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Validate: Reject impossible or ambiguous dates visibly.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Use: True dates enable sorting, intervals, trends and seasonality.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Joins enrich data—and can corrupt it silently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Left join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Preserves every analytical record while adding reference attributes.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Inner join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Keeps only matched records and can hide missing keys.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Many-to-many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Duplicates records and inflates totals when keys are not unique.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Join type follows the analytical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Left — Keep all observations from the primary dataset.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Inner — Retain only keys present in both tables when justified.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Full — Surface every key from both sources for reconciliation.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Anti — Isolate unmatched records as a quality exception.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Reshaping changes structure, not 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measurement column plus key/value variables supports grouping and plotting.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Wide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Repeated categories occupy columns for comparison or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Identifier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Keys must remain stable through every pivot.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Reconcile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Totals and distinct observations should remain explainable.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Aggregation changes the unit of observation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Group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Define the dimensions that create each summary row.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Choose sum, count, mean or another statistic intentionally.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Denominator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Retain n and exposure when comparing groups.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Aggregates can conceal within-group variation and missingness.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Pipes make the analytical story readable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Sequence: Each operation receives the result of the previous stage.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Names: Assign meaningful intermediate outputs at review boundaries.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Debug: Inspect after import, join, filter and aggregation gates.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Reproducibility: The same source and code should recreate the result.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Reconciliation catches silent loss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066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828800"/>
            <a:ext cx="297180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148840"/>
            <a:ext cx="242316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743200"/>
            <a:ext cx="2423160" cy="23317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clean output is credible only when retained and excluded records reconcile to the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5303520"/>
            <a:ext cx="2423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Editable native PowerPoint chart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01 · LO1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release-ready dataset carries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Source — Origin, extraction date and owner.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Code — Versioned script and package/session information.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Controls — Row, key, total and exception checks.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Limitations — Known missingness, bias, transformations and allowed use.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Prepare and Transform Dengue Surveillance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Import weekly dengue surveillance data, inspect types and missingness, filter a defined population, construct dates and export a controlled analysis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reproducible clean dengue time-series dataset, transformation log and reconciliation evidence.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read.csv, dplyr-compatible workflow, date construction, write.csv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Prepare and Transform Dengue Surveillance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script runs without error, output rows reconcile to input less documented exclusions, dates are valid, and the clean CSV and plot are created.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Join, Reshape and Aggregate Vaccination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Standardise vaccination and clinic reference data, join on controlled keys, reshape between wide and long forms and produce an auditable annual summary.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joined long-form vaccination dataset, unmatched-key report, annual summary and transformation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merge, reshape, aggregate, key validation, reconciliation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2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Join, Reshape and Aggregate Vaccination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left join preserves all source rows, unmatched keys are zero or documented, and total doses reconcile across input, long and wide summaries.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Data Preparation and Transformation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Question before code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· A1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Data types · descriptive statistics · distribution · grouped summaries · basic plots and 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Data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Variable type drives method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Nominal, ordinal, discrete and continuous data support different summaries and charts.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Centre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Mean and median answer different questions when the distribution is skewed or contains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Spread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Range, interquartile range, variance and standard deviation quantify variability.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Grouped summaries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Compare meaningful sub-populations while preserving denominators and sample sizes.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Sampling variability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statistic changes from sample to sample; uncertainty is part of the result.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Review accuracy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Recompute, reconcile and inspect distributions before accepting a summary.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slow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Variable type determines valid summaries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Nominal: Categories with no inherent order.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Ordinal: Categories with an order but not equal intervals.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Discrete: Countable numeric outcomes.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Continuous: Measurements on an interval or ratio scale.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slow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Qualitative and quantitative answer different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Qualitative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What kinds, themes or experiences occur?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Quantitative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How many, how much or how strongly?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Mixed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Counts locate patterns; text explains context and meaning.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slow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Frequency tables reveal category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Count — Number of observations in each level.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Proportion — Count divided by a clearly stated denominator.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Missing — Display unknown or excluded categories explicitly.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Comparison — Use common denominators when comparing groups.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ransition spd="slow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Mean describes balance; median describes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Uses every value and is sensitive to extremes.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Median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Splits ordered observations into two halves.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Symmetry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Mean and median are usually close.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Skew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Their separation is a warning to inspect distribution.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Mean and median respond differently to outliers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066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828800"/>
            <a:ext cx="297180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148840"/>
            <a:ext cx="242316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EVIDENCE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743200"/>
            <a:ext cx="2423160" cy="23317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The mean moves with extreme values; the median remains anchored to the ordered middle.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5303520"/>
            <a:ext cx="2423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Editable native PowerPoint chart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slow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Trimmed means trade sensitivity for robustness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Rule: Remove a fixed proportion from each tail before averaging.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Benefit: Reduces the influence of extreme observations.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Cost: Discarded tails may contain real, important cases.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Use: Compare trim levels rather than selecting one after the 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slow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Range is simple but fragile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Maximum minus minimum.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Strength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Easy to calculate and explain.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Weakness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Depends on only two observations.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slow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Variance and standard deviation quantify spread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Variance — Average squared deviation, estimated with n−1 for a sample.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SD — Square root of variance in the original unit.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Meaning — Larger SD means observations are more dispersed around the mean.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 — Strong skew or outliers can make SD hard to interpret alone.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slow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IQR focuses on the middle half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25% of observations lie at or below this value.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75% lie at or below this value.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IQR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Q3 − Q1, resistant to tail extremes.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Outlier rule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1.5 × IQR flags values for investigation, not automatic deletion.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ransition spd="slow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five-number summary sketches the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Minimum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Lowest observed value.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Quartiles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Q1, median and Q3 locate the middle structure.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Maximum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Highest observed value.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with units, n and possible data-entry errors.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slow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Histograms depend on bin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Bins: Intervals convert continuous values into counts.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Shape: Reveal skew, modes, gaps and tails.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Sensitivity: Different widths can hide or exaggerate patterns.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Control: Use a defensible rule and show the underlying range.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slow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Box plots make group comparison compact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Box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Middle 50% from Q1 to Q3.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Median within the box.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Whiskers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Typical range under the chosen convention.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slow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Grouped summaries require denominators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 — Shows how much evidence supports each group statistic.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Missing — State whether excluded cases differ by group.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Unequal groups — Precision and visual weight differ with sample size.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Aggregation — Do not compare sums where rates or means answer the question.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slow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Sampling links observed data to a population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Population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 units the research decision concerns.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Observed subset used to estimate population characteristics.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Parameter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Unknown population quantity.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Statistic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Sample-based estimate that varies across samples.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ransition spd="slow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Sampling distributions explain uncertainty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Repeated samples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statistic takes different values.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Standard error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Expected variability of an estimate across samples.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Sample size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Larger n usually improves precision, not representativeness.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Bias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Systematic selection errors remain even with more data.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slow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Accuracy review precedes interpretation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Recompute: Check a material statistic by an independent method.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Reconcile: Counts and grouped totals agree with source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Inspect: Plots reveal impossible values or unexpected shapes.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Document: Record exclusions, rounding, units and package versions.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slow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Summary tables should carry 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State population, measure and period.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Units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 kg, cases, percent and counts explicit.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Round only for communication; retain underlying values.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slow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02 · LO2 · A2 · 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defensible summary separates signal from caveat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Pattern — What centre, spread or group difference is observed?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Magnitude — How large is it in the original unit?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Uncertainty — How much evidence and variability surround 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 — What should the reader not conclude from the summary?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slow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Summarise Centre, Spread and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Compare mean, trimmed mean and median, quantify variability and inspect how outliers affect health-service waiting-time summaries.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descriptive-statistics table, distribution plot, outlier review and accuracy checklist.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mean, median, sd, IQR, quantile, hist, boxplot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slow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3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Summarise Centre, Spread and Distribution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R and Excel checks agree, units and sample size are stated, outliers remain traceable, and the chosen centre measure matches the observed distribution.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ransition spd="slow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Grouped Tables and Basic 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Summarise health observations by category, preserve denominators and review the accuracy of proportions, grouped means and basic plots.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Frequency/proportion tables, grouped numerical summaries, bar and box plots, and a denominator audit.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table, prop.table, aggregate, barplot, boxplot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slow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4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Grouped Tables and Basic Plots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Counts reconcile to the dataset, proportions sum to 100% within rounding, every grouped statistic includes n, and the written comparison matches both tables and plots.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slow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Data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Variable type drives method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· A2 · A8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slow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Quantitative Data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Correlation · regression · hypothesis testing · effect size · ANOVA · 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slow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Quantitative Data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Correlation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Measures strength and direction of association; it does not by itself establish causation.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Regression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Models an outcome as a function of one or more predictors under explicit assumptions.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Hypothesis testing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Compares observed evidence with a pre-specified null model and significance threshold.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Effect size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Quantifies how large the difference or relationship is in practical terms.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ANOVA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Tests whether group means differ beyond what within-group variability would suggest.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Interpretation boundary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Separate evidence, assumptions, uncertainty and business or research judgement.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slow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Quantitative analysis begins with a model of the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Outcome: The response to explain, compare or predict.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Predictor: A measured factor believed to relate to the outcome.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Design: Paired, independent, observational or experimental.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Assumptions: Conditions required for valid estimation or testing.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slow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Covariance and correlation describe co-movement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Covariance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Direction and joint variability in combined units.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Correlation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Standardised direction and strength from −1 to +1.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Positive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Variables tend to increase together.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slow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Correlation strength and direction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066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828800"/>
            <a:ext cx="297180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148840"/>
            <a:ext cx="242316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EVIDENCE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743200"/>
            <a:ext cx="2423160" cy="23317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Direction and linear strength are visible, but neither pattern proves causation.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5303520"/>
            <a:ext cx="2423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Editable native PowerPoint chart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slow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Pearson and rank correlation make different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Pearson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Measures linear association between quantitative variables.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Spearman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Measures monotonic association using ranks.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Choice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form, scale and outliers before selecting.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Report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Coefficient, interval, p-value, n and a scatter plot.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Correlation is not causation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Confounding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third factor may drive both variables.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Reverse direction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assumed predictor may actually respond to the outcome.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Selection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Observed units may not represent the population.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Causal claims require design, timing and alternative explanations.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ransition spd="slow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Linear regression expresses an average relationship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Intercept: Expected outcome when predictors equal zero.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Slope: Expected outcome change per unit of predictor.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Error: Observed minus modelled outcome.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Fit: Estimated line minimises squared residuals.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slow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Regression coefficients need units and conditions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Direction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Positive or negative adjusted relationship.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Magnitude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Change in outcome units per predictor unit.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Condition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Other included predictors held constant.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slow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R-squared measures explained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Range — Usually 0 to 1 for models with an intercept.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Meaning — Share of outcome variation explained in this sample.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Adjusted — Penalises predictors that add little information.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 — High fit does not prove causation or future accuracy.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slow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Residuals reveal model mismatch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Randomness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systematic curve or pattern across fitted values.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Spread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Variability should not fan out dramatically.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Outliers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Large residuals require context and sensitivity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Dependence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Time or clusters can violate independence.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slow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Hypothesis testing is a pre-specified 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H0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Baseline model or no-effect statement.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Difference or direction the study is designed to detect.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Alpha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Chosen false-positive risk threshold.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Test statistic and p-value under H0 assumptions.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ransition spd="slow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P-values have a narrow 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Conditional: Calculated assuming H0 and the test assumptions.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Extremeness: Probability of data at least this extreme under H0.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Not effect: Does not tell how large or useful the finding is.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Not truth: Is not the probability that H0 is true.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slow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One- and two-tailed tests answer different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Two-tailed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Detects differences in either direction.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One-tailed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Only a justified pre-specified direction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Integrity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not choose the tail after observing the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slow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Type I and Type II errors trade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Type I — Reject a true H0: false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Type II — Fail to reject a false H0: false negative.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Power — Probability of detecting a meaningful true effect.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Design — Sample size, variability and effect magnitude affect both.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slow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T-tests must match how data was collected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One sample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a sample mean with a benchmark.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Independent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two separate groups.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Paired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matched units or repeated measures.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Welch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Allows unequal group variances and is often safer.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slow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Effect size complements significance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Mean difference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Magnitude in the original unit.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Standardised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Difference scaled by variability.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Interval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Range of plausible effect values under assumptions.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with cost, risk and practical threshold.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ransition spd="slow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ANOVA separates within and between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066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828800"/>
            <a:ext cx="297180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148840"/>
            <a:ext cx="242316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EVIDENCE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743200"/>
            <a:ext cx="2423160" cy="23317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ANOVA asks whether between-group separation is large relative to within-group variability.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5303520"/>
            <a:ext cx="2423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Editable native PowerPoint chart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slow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Assumptions are evidence, not a checkbox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Independence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Comes primarily from study design.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Distribution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Inspect residuals or within-group shapes.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Variance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Review group spreads; use robust alternatives when needed.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slow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03 · LO3 · K1 · A3 · 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Interpretation is a structured argument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Estimate — State direction and magnitude.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Uncertainty — Give interval, variability and sample size.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Evidence — Report test/model and p-value without overclaim.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 — Name assumptions, design constraints and next evidence.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slow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Analyse Correlation and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Examine a quantitative relationship, fit a linear model, evaluate residuals and communicate an interpretation without causal overclaiming.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Correlation evidence, fitted regression model, diagnostic plot, prediction and limitations statement.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cor, cor.test, lm, summary, predict, residual diagnostics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slow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5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Analyse Correlation and Regression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model output is reproducible, coefficient and R-squared interpretations use correct units, diagnostics are reviewed, and the conclusion avoids causal claims.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Differences and Compare Groups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Pre-specify hypotheses, run a two-sample t-test and one-way ANOVA, quantify effects and separate statistical from practical significance.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Test-design record, t-test and ANOVA outputs, effect estimates, assumption checks and conclusion.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t.test, aov, TukeyHSD, effect-size calculation, boxplot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slow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6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Differences and Compare Groups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Test choices match the designs, hypotheses were pre-specified, effect estimates accompany p-values, and conclusions state assumptions and practical limitations.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slow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Quantitative Data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Correlation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· K1 · A3 · A7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slow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38544"/>
            <a:ext cx="12191695" cy="21945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10515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44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900" b="1">
                <a:solidFill>
                  <a:srgbClr val="F59E0B"/>
                </a:solidFill>
                <a:latin typeface="Arial"/>
              </a:rPr>
              <a:t>45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slow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Qualitative Data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Text preparation · tokenisation · stop words · term frequency · word clouds · thematic interpretation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ransition spd="slow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Qualitative Data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Qualitative evidence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Open-ended responses carry meaning, context and ambiguity that numeric summaries can miss.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Text preparation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Normalise case and punctuation while preserving the source and recording every exclusion.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Tokens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Break text into reproducible analytical units such as words, phrases or coded themes.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Stop words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Remove high-frequency low-information terms using a documented list and domain judgement.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Frequency is not importance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Common terms reveal salience but require context, concordance and representative excerpts.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Credible interpretation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a codebook, peer review and traceable excerpts to manage subjectivity.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slow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Qualitative data preserves experience and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Open responses: Capture language respondents choose themselves.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Themes: Recurring meanings can be coded and compared.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Context: The same word can carry different meanings in different excerpts.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Responsibility: Protect identity and avoid decontextualised quotation.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slow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qualitative workflow remains auditable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 original response and stable record 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Prepare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Create derived cleaned text without overwriting source.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Apply documented tokens, themes or categories.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slow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Text normalisation changes the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Case — Lowercase merges capitalisation variants.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Punctuation — Removal can change contractions, hashtags or medical codes.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Spelling — Correction can merge meaning or introduce analyst judgement.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Audit — Record each rule and retain the original text.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slow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Tokenisation defines the analytical unit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Word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Simple and interpretable, but loses phrase meaning.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N-gram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Preserves short phrases and negation better.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Sentence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Supports context and sentiment review.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Theme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Human-coded concept may be more meaningful than a token.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ransition spd="slow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Stop words reduce noise—and can remove meaning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General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Common function words often add little topical information.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Frequently used terms may still be important in healthcare.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Negation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Removing not or no can reverse meaning.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Sensitivity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 results before and after the list changes.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slow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Term frequency is a starting 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Count: How often a token appears.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Document frequency: How many responses contain the token.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Rate: Count relative to total words or responses.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Limit: Frequency alone does not establish sentiment, severity or importance.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slow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Term frequency changes after stop-word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066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828800"/>
            <a:ext cx="297180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148840"/>
            <a:ext cx="242316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EVIDENCE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743200"/>
            <a:ext cx="2423160" cy="23317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Preprocessing choices materially change visual prominence and must be disclosed.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5303520"/>
            <a:ext cx="2423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Editable native PowerPoint chart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slow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Concordance restores local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Keyword — Choose a term suggested by frequency or theory.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Window — Inspect neighbouring words or full response.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Meaning — Separate different uses of the same term.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Trace — Retain record ID without exposing personal identity.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slow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codebook turns interpretation into a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Short label for a defined meaning.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Definition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What is included and excluded.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Example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Representative excerpt illustrating the code.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Decision rule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How ambiguous cases are resolved.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ransition spd="slow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Human coding needs consistency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Calibration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Coders discuss examples before full coding.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Double-code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Independent review reveals disagreements.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Resolution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Record how differences were reconciled.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Reflexivity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Acknowledge how analyst perspective shapes interpretation.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slow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Word clouds are overview visuals, not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Size: Usually encodes term frequency.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Strength: Rapidly surfaces prominent vocabulary.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Weakness: Poor for precise comparison and hides context.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Companion: Always provide a ranked table and excerpts.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slow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reproducible word cloud fixes random choices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Keeps the layout stable across reruns.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State minimum frequency and maximum words.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Palette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readable, accessible colours.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slow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Preprocessing sensitivity is an effect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Choice — Stop words, stemming and token rules change counts.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— Measure rank and frequency shifts.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Interpret — Claims robust to sensible choices are more credible.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Report — Disclose choices with material impact.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slow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Stemming and lemmatisation trade detail for grouping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Stem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Cuts words to a common root, sometimes awkwardly.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Lemma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Maps variants to a dictionary form.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Benefit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Combines related grammatical forms.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Can merge meanings that should remain distinct.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ransition spd="slow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Qualitative significance is not only a p-value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Salience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Prominence within participant accounts.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Coverage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Breadth across responses or channels.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Contrast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Meaningful difference between contexts.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Impact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Potential consequence supported by evidence and judgement.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slow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Triangulation strengthens interpretation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Counts: Show prevalence or distribution.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Excerpts: Show meaning and context.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Groups: Compare channels, time or participant categories.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Peer review: Challenge selective reading and alternative explanations.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slow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Qualitative visuals need ethical boundaries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Privacy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Remove identifiable or sensitive details.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Representation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Do not let vivid quotes stand in for all respondents.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Proportionality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Avoid implying population prevalence from convenience feedback.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04 · LO4 · K1 · A4 ·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credible theme statement carries evidence and restraint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Theme — Name the recurring idea precisely.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Support — Provide counts, coverage and representative excerpts.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Variation — Show exceptions or contrasting accounts.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 — State sampling, coding and contextual constraints.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slow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Prepare Text and Analyse Term Frequency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Convert feedback text into a traceable token table, remove documented stop words and compare term frequencies across service channels.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Clean token table, stop-word audit, frequency table, channel comparison and interpretation notes.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regular expressions, strsplit, stop-word filtering, table, aggregate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slow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7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Prepare Text and Analyse Term Frequency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Every token remains traceable to a source record, exclusions are documented, frequency totals reconcile, and the interpretation uses context rather than frequency alone.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slow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and Critique a Word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Create a reproducible word cloud or frequency display, test the effect of preprocessing choices and triangulate the visual with representative excerpts.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Word-cloud image, ranked-frequency table, sensitivity comparison, excerpt evidence and limitations statement.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wordcloud optional package, base-graphics fallback, RColorBrewer optional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slow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8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Create and Critique a Word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visual is reproducible, ranked counts are available, preprocessing sensitivity is documented, and every claim is supported by counts plus traceable excerpts.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slow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Qualitative Data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Qualitative evidence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· K1 · A4 · A5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slow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TOPIC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 Visualization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07008" y="3959352"/>
            <a:ext cx="9692640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Grammar of graphics · quantitative and qualitative plots · customisation · accessibility ·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ransition spd="slow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ALIGNMENT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Data Visualization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Question-to-chart fit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Choose position, length, colour and shape to support the analytical purpose.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Grammar of graphics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Build a plot from data, aesthetics, geoms, statistical transforms, scales, coordinates and facets.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Truthful scales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Units, baselines, aspect ratios and uncertainty must not exaggerate or hide evidence.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Accessible design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readable labels, sufficient contrast and redundant encodings beyond colour alone.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Layered emphasis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Guide attention with hierarchy and annotation while keeping the complete context available.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078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0780" y="4849368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78524" y="5254752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7852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346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Interpret findings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State the pattern, evidence, uncertainty, decision relevance and limitation.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slow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visualisation answers a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Trend: How does a measure change over ordered time?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Comparison: Which categories are higher, lower or different?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Distribution: How are values spread and where are unusual observations?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Relationship: How do two quantitative variables move together?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slow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grammar of graphics separates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The analytical table and variables.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Aesthetics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Mappings to x, y, colour, size, shape or group.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Geom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Marks such as point, line, bar or box.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slow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and aesthetics define the visual contract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x/y — Position is usually the most precise quantitative encoding.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Colour — Useful for grouping but weak without redundant cues.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Size — Area judgements are less precise than position or length.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Group — Controls which observations connect or aggregate together.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slow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Geoms must match the observation and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Point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mark per paired quantitative observation.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Line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Connects ordered observations in a meaningful sequence.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Bar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Compares category values using aligned lengths.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Box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Summarises a quantitative distribution by group.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ransition spd="slow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Statistical transforms create derived displays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Count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Bars can count records by category.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Bin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Histograms group continuous values into intervals.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Smooth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fitted trend summarises relationship form.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Summary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Intervals and point estimates reduce data visibly.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slow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Scales translate data into perception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Domain: Values included in the mapping.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Range: Positions, colours or sizes used on screen.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Breaks: Tick marks guide interpretation.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Labels: Units and formats make values legible.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slow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Trend visual: signal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066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828800"/>
            <a:ext cx="297180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148840"/>
            <a:ext cx="242316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743200"/>
            <a:ext cx="2423160" cy="23317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Ordered time supports connected marks; annotate meaningful changes without hiding variability.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5303520"/>
            <a:ext cx="2423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Editable native PowerPoint chart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slow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Comparison visual: zero baseline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066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828800"/>
            <a:ext cx="297180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148840"/>
            <a:ext cx="242316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743200"/>
            <a:ext cx="2423160" cy="23317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Bars encode magnitude by length, so the baseline should start at zero.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5303520"/>
            <a:ext cx="2423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Editable native PowerPoint chart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slow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Distribution visuals reveal what averages hide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Histogram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Shape across numeric intervals.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Box plot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Compact group comparison of median, IQR and outliers.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Density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Smoothed shape sensitive to bandwidth.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Raw points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Show sample size and clusters where feasible.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ransition spd="slow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Quantitative relationship: scatter plus trend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828800"/>
          <a:ext cx="74066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58200" y="1828800"/>
            <a:ext cx="2971800" cy="4114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59952" y="2148840"/>
            <a:ext cx="242316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EVIDENCE LENS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2743200"/>
            <a:ext cx="2423160" cy="23317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fitted trend can summarise association while individual points retain spread and uncertainty.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59952" y="5303520"/>
            <a:ext cx="2423160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Editable native PowerPoint chart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slow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Qualitative plots need precise companions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Ranked bars: Best for comparing term or theme frequencies.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Word cloud: Useful only as an overview of prominence.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Heat map: Shows frequency across groups or time.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Excerpts: Restore meaning behind counts and colours.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slow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Facets create small multiples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Consistency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Same axes and visual grammar across panels.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Comparison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Group patterns become visible without overplotting.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free scales only when comparison is not the goal.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slow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Colour should encode, not decorate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5849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849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Categorical — Distinct hues for unordered groups.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469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901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901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9026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026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702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Sequential — Light-to-dark progression for ordered magnitude.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078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078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203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203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879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Diverging — Two directions around a meaningful midpoint.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98230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2176272"/>
            <a:ext cx="2457450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72550" y="2176272"/>
            <a:ext cx="2457450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53803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53803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566" y="3566160"/>
            <a:ext cx="2201418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Accessibility — Check contrast and add labels, shapes or facets.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slow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Annotation guides attention with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Direct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Label the important point or change.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Reference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Add target, benchmark or event line.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Restraint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Annotate the finding, not every mark.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Source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Keep period, population and unit visible.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slow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Themes improve consistency without hiding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Hierarchy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Title, plot, annotation and source have distinct weight.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Typography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Readable sizes and few font styles.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Grid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Use light guides only where they help estimation.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Whitespace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Separate elements and reduce cognitive load.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slow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Misleading visuals change the argument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92224"/>
            <a:ext cx="5193792" cy="10058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0" name="Oval 9"/>
          <p:cNvSpPr/>
          <p:nvPr/>
        </p:nvSpPr>
        <p:spPr>
          <a:xfrm>
            <a:off x="1033272" y="2615184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Truncated bar axis: Exaggerates small category differences.</a:t>
            </a:r>
          </a:p>
        </p:txBody>
      </p:sp>
      <p:sp>
        <p:nvSpPr>
          <p:cNvPr id="13" name="Oval 12"/>
          <p:cNvSpPr/>
          <p:nvPr/>
        </p:nvSpPr>
        <p:spPr>
          <a:xfrm>
            <a:off x="1033272" y="3401568"/>
            <a:ext cx="347472" cy="34747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7048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Dual axes: Can manufacture apparent relationships.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792224"/>
            <a:ext cx="5193792" cy="4315968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792224"/>
            <a:ext cx="5193792" cy="1005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039112"/>
            <a:ext cx="4690872" cy="3840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CONTROL / DECISION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15184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15184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86016" y="2560320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3D: Distorts position, length and area.</a:t>
            </a:r>
          </a:p>
        </p:txBody>
      </p:sp>
      <p:sp>
        <p:nvSpPr>
          <p:cNvPr id="22" name="Oval 21"/>
          <p:cNvSpPr/>
          <p:nvPr/>
        </p:nvSpPr>
        <p:spPr>
          <a:xfrm>
            <a:off x="6492240" y="3401568"/>
            <a:ext cx="347472" cy="34747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401568"/>
            <a:ext cx="347472" cy="34747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86016" y="3346704"/>
            <a:ext cx="4206240" cy="5486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Cherry-picking: Selective periods or groups hide contradictory evidence.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slow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Visual QA is an analytical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Reconcile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Displayed values agree with the source summary.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No clipping, overlap, wrong labels or hidden categories.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Test alternative scale, grouping or period choices.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slow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05 · LO5 · K2 · A6 · A9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Interpret findings in five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Pattern — What is visibly happening?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Magnitude — How large is it and in what unit?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Uncertainty — What variability or evidence limits confidence?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Relevance — Why does it matter to the research decision?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Limit — What conclusion is not supported?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slow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Layered Quantitative Visuals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Use the grammar of graphics to create comparison, distribution and relationship plots with truthful scales, useful labels and accessible emphasis.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bar chart, faceted distribution plot and annotated scatter plot with a chart-choice rationale.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ggplot2 when available, base-R fallback, scales, facets, annotation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ransition spd="slow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9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Build Layered Quantitative Visuals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All three plots answer their stated questions, remain legible without colour alone, use truthful scales and carry interpretations supported by the displayed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slow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TOPIC 05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Capstone: Review and Communicate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55648"/>
            <a:ext cx="1417320" cy="457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1417320" cy="457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14016"/>
            <a:ext cx="10652760" cy="11430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Integrate preparation, summary, modelling, text evidence and visualisation into a compact reproducible healthcare research briefing.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22191"/>
            <a:ext cx="10652760" cy="1874519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8"/>
            <a:ext cx="18288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EXPECTED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16552"/>
            <a:ext cx="9921240" cy="6035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 auditable analysis bundle with control log, statistical results, three decision visuals and a concise evidence-led recommendation.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166360"/>
            <a:ext cx="992124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  </a:t>
            </a:r>
            <a:r>
              <a:rPr sz="1200" b="0">
                <a:solidFill>
                  <a:srgbClr val="5B6372"/>
                </a:solidFill>
                <a:latin typeface="Arial"/>
              </a:rPr>
              <a:t>R, base statistics, optional ggplot2, visual QA, reproducibility and interpretation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slow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10 · ACCEPTANCE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Capstone: Review and Communicate Findings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52760" cy="2514600"/>
          </a:xfrm>
          <a:prstGeom prst="roundRect">
            <a:avLst/>
          </a:prstGeom>
          <a:solidFill>
            <a:srgbClr val="E8F7E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996696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ACCEPTANCE CHECK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9829800" cy="107899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900" b="0">
                <a:solidFill>
                  <a:srgbClr val="161B26"/>
                </a:solidFill>
                <a:latin typeface="Arial"/>
              </a:rPr>
              <a:t>The bundle reruns from source data, all controls pass or are explained, visuals agree with statistical outputs, and the recommendation distinguishes evidence from judgement.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slow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Recap — Data Visualization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Knowledge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Question-to-chart fit and related principles.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LO5 · K2 · A6 · A9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Evidence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validated workbook and decision-ready interpretation.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Next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Connect this topic to the next layer of the analytical workflow.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slow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2148840"/>
            <a:ext cx="118872" cy="19659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886968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9784080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Evidence, Assessment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2600" y="594360"/>
            <a:ext cx="2011680" cy="1143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6600" b="1">
                <a:solidFill>
                  <a:srgbClr val="E2E8F0"/>
                </a:solidFill>
                <a:latin typeface="Arial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ransition spd="slow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LO1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Prepare and transform data for analysis using 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LO2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Summarise data with descriptive statistics, figures, graphs and tables.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LO3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Perform quantitative data analysis and interpret the findings.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LO4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Perform qualitative data analysis and determine significance or effect.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LO5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Create effective data visualisations in R and interpret research findings.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slow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and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828800"/>
            <a:ext cx="3401568" cy="1097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Learner slide 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Learner Guide PDF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Individual R lab folders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9703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9703" y="1828800"/>
            <a:ext cx="3401568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18303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Assessment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36591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WA question paper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1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PP question paper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36591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Submit R code and evidence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02166" y="1828800"/>
            <a:ext cx="3401568" cy="423367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02166" y="1828800"/>
            <a:ext cx="3401568" cy="1097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6" y="2084831"/>
            <a:ext cx="2944368" cy="6583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Support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49054" y="2907792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Check the current TGS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49054" y="3584448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Use the current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4" y="4261104"/>
            <a:ext cx="2907792" cy="5303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C3AED"/>
                </a:solidFill>
                <a:latin typeface="Arial"/>
              </a:rPr>
              <a:t>●</a:t>
            </a:r>
            <a:r>
              <a:rPr sz="1300" b="0">
                <a:solidFill>
                  <a:srgbClr val="161B26"/>
                </a:solidFill>
                <a:latin typeface="Arial"/>
              </a:rPr>
              <a:t>  Contact the trainer or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852160"/>
            <a:ext cx="996696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000" b="1">
                <a:solidFill>
                  <a:srgbClr val="1F6FEB"/>
                </a:solidFill>
                <a:latin typeface="Arial"/>
                <a:hlinkClick r:id="rId2"/>
              </a:rPr>
              <a:t>https://lms-tms.tertiaryinfotech.com/</a:t>
            </a:r>
          </a:p>
        </p:txBody>
      </p:sp>
    </p:spTree>
  </p:cSld>
  <p:clrMapOvr>
    <a:masterClrMapping/>
  </p:clrMapOvr>
  <p:transition spd="slow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Reminder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70176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WA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2 open-ended knowledge questions, 30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132283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170176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170176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5 connected R-analysis tasks, 90 minutes.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07080"/>
            <a:ext cx="82296" cy="13228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12464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slides, Learner Guide and approved materials.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3307080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3307080"/>
            <a:ext cx="82296" cy="13228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3712464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3712464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3425952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Complete assessment digital attendance before starting.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9368"/>
            <a:ext cx="5189220" cy="1322832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49368"/>
            <a:ext cx="82296" cy="132283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54752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54752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68240"/>
            <a:ext cx="4046220" cy="1139952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Submission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Upload only your own completed question papers, R code and evidence.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slow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85316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5316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digital attendance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8336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62656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2656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70732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70732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0672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73752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48072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48072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56148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6148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76088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33488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3488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41564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41564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61504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4584" y="3419856"/>
            <a:ext cx="274320" cy="4572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1F6FEB"/>
                </a:solidFill>
                <a:latin typeface="Arial"/>
              </a:rPr>
              <a:t>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18904" y="2176272"/>
            <a:ext cx="1911096" cy="2971800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18904" y="2176272"/>
            <a:ext cx="1911096" cy="9144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126980" y="2578608"/>
            <a:ext cx="694944" cy="69494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26980" y="2578608"/>
            <a:ext cx="694944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20" y="3566160"/>
            <a:ext cx="1655064" cy="123444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slow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TRAQOM · SSG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17904"/>
            <a:ext cx="106527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64792"/>
            <a:ext cx="82296" cy="209397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55748"/>
            <a:ext cx="512064" cy="512064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Assessment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Scan the SSG QR code before the papers.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764792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0780" y="1764792"/>
            <a:ext cx="82296" cy="20939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78524" y="2555748"/>
            <a:ext cx="512064" cy="512064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8524" y="2555748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3468" y="1883664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Training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Confirm AM and PM records for both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78224"/>
            <a:ext cx="82296" cy="20939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69180"/>
            <a:ext cx="512064" cy="51206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Minimum attendance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 least 75% is required.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0780" y="4078224"/>
            <a:ext cx="5189220" cy="2093976"/>
          </a:xfrm>
          <a:prstGeom prst="round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40780" y="4078224"/>
            <a:ext cx="82296" cy="20939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8524" y="48691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8524" y="4869180"/>
            <a:ext cx="512064" cy="51206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3468" y="4197096"/>
            <a:ext cx="4046220" cy="1911096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Ask for help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Tell the trainer immediately if submission fails.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ransition spd="slow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1874519"/>
            <a:ext cx="1024128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2377440"/>
            <a:ext cx="10241280" cy="160020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Turn research data into a defensible finding.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24528"/>
            <a:ext cx="9966960" cy="9144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Prepare, summarise, analyse, visualise and interpret with evidence another analyst can reproduce.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slow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14173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65760"/>
            <a:ext cx="105156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94944"/>
            <a:ext cx="10698480" cy="694944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466344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Data Analytics and Visualization with R · TGS-2026064475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473952"/>
            <a:ext cx="347472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840" y="6473952"/>
            <a:ext cx="45720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>
              <a:spcAft>
                <a:spcPts val="30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  <p:pic>
        <p:nvPicPr>
          <p:cNvPr id="28" name="Picture 27" descr="ref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7116" y="1595628"/>
            <a:ext cx="8537463" cy="424738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29" name="TextBox 28"/>
          <p:cNvSpPr txBox="1"/>
          <p:nvPr/>
        </p:nvSpPr>
        <p:spPr>
          <a:xfrm>
            <a:off x="777240" y="5925312"/>
            <a:ext cx="10637215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